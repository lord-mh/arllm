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Baseline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Head 1 ATAM F1</c:v>
                </c:pt>
                <c:pt idx="1">
                  <c:v>Head 2 JM1 Recall</c:v>
                </c:pt>
                <c:pt idx="2">
                  <c:v>Head 3 SAAM Acc</c:v>
                </c:pt>
                <c:pt idx="3">
                  <c:v>Head 5 Causal LM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48.2</c:v>
                </c:pt>
                <c:pt idx="2">
                  <c:v>89.5</c:v>
                </c:pt>
                <c:pt idx="3">
                  <c:v>84.0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ATRAMDeepLLM v3.0 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Head 1 ATAM F1</c:v>
                </c:pt>
                <c:pt idx="1">
                  <c:v>Head 2 JM1 Recall</c:v>
                </c:pt>
                <c:pt idx="2">
                  <c:v>Head 3 SAAM Acc</c:v>
                </c:pt>
                <c:pt idx="3">
                  <c:v>Head 5 Causal LM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99.8</c:v>
                </c:pt>
                <c:pt idx="1">
                  <c:v>57.8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C4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P99 Latency (ms)</c:v>
                </c:pt>
                <c:pt idx="1">
                  <c:v>Scalability (x10)</c:v>
                </c:pt>
                <c:pt idx="2">
                  <c:v>SPOF Count (x30)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246.0</c:v>
                </c:pt>
                <c:pt idx="1">
                  <c:v>55.6</c:v>
                </c:pt>
                <c:pt idx="2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Remediated C4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P99 Latency (ms)</c:v>
                </c:pt>
                <c:pt idx="1">
                  <c:v>Scalability (x10)</c:v>
                </c:pt>
                <c:pt idx="2">
                  <c:v>SPOF Count (x30)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186.0</c:v>
                </c:pt>
                <c:pt idx="1">
                  <c:v>79.1</c:v>
                </c:pt>
                <c:pt idx="2">
                  <c:v>30.0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Rounded Rectangle 3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4400" b="1">
                <a:solidFill>
                  <a:srgbClr val="F8FAFC"/>
                </a:solidFill>
                <a:latin typeface="DejaVu Sans"/>
              </a:rPr>
              <a:t>ATRAM-ArchEval Deep LLM Agent (v3.0)</a:t>
            </a:r>
          </a:p>
          <a:p>
            <a:r>
              <a:rPr sz="2000">
                <a:solidFill>
                  <a:srgbClr val="93C5FD"/>
                </a:solidFill>
                <a:latin typeface="DejaVu Sans"/>
              </a:rPr>
              <a:t>Hybrid Neuro-Symbolic Architecture for SEI ATAM, SAAM &amp; C4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DejaVu Sans"/>
              </a:rPr>
              <a:t>409.6M Float32 Params (1.5625 GB) | 16 Transformer Layers | 5 Neural Heads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DejaVu Sans"/>
              </a:rPr>
              <a:t>1. SYSTEM ARCHITECTURE &amp; HOW IT WORKS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Tri-Party Neuro-Symbolic Loop Eliminates LLM Hallucinations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DejaVu Sans"/>
              </a:rPr>
              <a:t>1. Human Architect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C4 DaC Input: </a:t>
            </a:r>
            <a:r>
              <a:rPr sz="1500">
                <a:solidFill>
                  <a:srgbClr val="475569"/>
                </a:solidFill>
                <a:latin typeface="DejaVu Sans"/>
              </a:rPr>
              <a:t>Submits C4 Mermaid or PlantUML diagrams.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Clarifications: </a:t>
            </a:r>
            <a:r>
              <a:rPr sz="1500">
                <a:solidFill>
                  <a:srgbClr val="475569"/>
                </a:solidFill>
                <a:latin typeface="DejaVu Sans"/>
              </a:rPr>
              <a:t>Answers 4 targeted SLA &amp; RTO probes.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What-If Control: </a:t>
            </a:r>
            <a:r>
              <a:rPr sz="1500">
                <a:solidFill>
                  <a:srgbClr val="475569"/>
                </a:solidFill>
                <a:latin typeface="DejaVu Sans"/>
              </a:rPr>
              <a:t>Triggers live architectural simulations.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DejaVu Sans"/>
              </a:rPr>
              <a:t>2. C4 &amp; Tarjan Engine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AST Parsing: </a:t>
            </a:r>
            <a:r>
              <a:rPr sz="1500">
                <a:solidFill>
                  <a:srgbClr val="475569"/>
                </a:solidFill>
                <a:latin typeface="DejaVu Sans"/>
              </a:rPr>
              <a:t>0% syntax error on C4 nodes &amp; edges.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Arrow Inspector: </a:t>
            </a:r>
            <a:r>
              <a:rPr sz="1500">
                <a:solidFill>
                  <a:srgbClr val="475569"/>
                </a:solidFill>
                <a:latin typeface="DejaVu Sans"/>
              </a:rPr>
              <a:t>Flags sync chains &amp; silent arrows.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Tarjan Cut-Vertices: </a:t>
            </a:r>
            <a:r>
              <a:rPr sz="1500">
                <a:solidFill>
                  <a:srgbClr val="475569"/>
                </a:solidFill>
                <a:latin typeface="DejaVu Sans"/>
              </a:rPr>
              <a:t>Detects exact SPOF nodes deterministically.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2011680"/>
            <a:ext cx="32918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DejaVu Sans"/>
              </a:rPr>
              <a:t>3. Deep LLM &amp; 4 Agents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16-Layer Core: </a:t>
            </a:r>
            <a:r>
              <a:rPr sz="1500">
                <a:solidFill>
                  <a:srgbClr val="475569"/>
                </a:solidFill>
                <a:latin typeface="DejaVu Sans"/>
              </a:rPr>
              <a:t>409.6M params with RoPE &amp; KV-Cache.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5 Neural Heads: </a:t>
            </a:r>
            <a:r>
              <a:rPr sz="1500">
                <a:solidFill>
                  <a:srgbClr val="475569"/>
                </a:solidFill>
                <a:latin typeface="DejaVu Sans"/>
              </a:rPr>
              <a:t>Risk, JM1 defect, SAAM, RAG &amp; Causal LM.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JSON Blackboard: </a:t>
            </a:r>
            <a:r>
              <a:rPr sz="1500">
                <a:solidFill>
                  <a:srgbClr val="475569"/>
                </a:solidFill>
                <a:latin typeface="DejaVu Sans"/>
              </a:rPr>
              <a:t>Coordinates 4 agents with zero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ATRAM-ArchEval Architecture Specification &amp; AgenticDev '26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opped_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12064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DejaVu Sans"/>
              </a:rPr>
              <a:t>2. DEEP LLM ENGINEERING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16-Layer Transformer &amp; 1.56 GB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ArchTokenizer (32,768): </a:t>
            </a:r>
            <a:r>
              <a:rPr sz="1500">
                <a:solidFill>
                  <a:srgbClr val="475569"/>
                </a:solidFill>
                <a:latin typeface="DejaVu Sans"/>
              </a:rPr>
              <a:t>Bilingual AR/EN + C4 DSL + SEI ATAM/SAAM vocabulary with TF-IDF encoding.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16 Transformer Layers: </a:t>
            </a:r>
            <a:r>
              <a:rPr sz="1500">
                <a:solidFill>
                  <a:srgbClr val="475569"/>
                </a:solidFill>
                <a:latin typeface="DejaVu Sans"/>
              </a:rPr>
              <a:t>Pre-RMSNorm, Rotary Embeddings (RoPE), Multi-Head Attention, KV-Cache &amp; SwiGLU.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AdamW &amp; SVD Alignment: </a:t>
            </a:r>
            <a:r>
              <a:rPr sz="1500">
                <a:solidFill>
                  <a:srgbClr val="475569"/>
                </a:solidFill>
                <a:latin typeface="DejaVu Sans"/>
              </a:rPr>
              <a:t>Trained from scratch with cosine LR schedule &amp; SVD spectral projection on W_o.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1.5625 GB Checkpoint: </a:t>
            </a:r>
            <a:r>
              <a:rPr sz="1500">
                <a:solidFill>
                  <a:srgbClr val="475569"/>
                </a:solidFill>
                <a:latin typeface="DejaVu Sans"/>
              </a:rPr>
              <a:t>409,600,000 float32 parameters bound across all 16 layers on Google Drive.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12064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atram_deep_llm_engine.py (v3.0) &amp; models/atram_deep_llm_1_56GB_full.bin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DejaVu Sans"/>
              </a:rPr>
              <a:t>3. QUANTITATIVE MODEL VERIFICATION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Five Multi-Task Neural Heads Outperform 2026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1148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Head 1 (ATAM Risk): </a:t>
            </a:r>
            <a:r>
              <a:rPr sz="1500">
                <a:solidFill>
                  <a:srgbClr val="475569"/>
                </a:solidFill>
                <a:latin typeface="DejaVu Sans"/>
              </a:rPr>
              <a:t>99.80% Acc &amp; 0.998 F1 on 2,000 microservice scenarios.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Head 2 (NASA JM1): </a:t>
            </a:r>
            <a:r>
              <a:rPr sz="1500">
                <a:solidFill>
                  <a:srgbClr val="475569"/>
                </a:solidFill>
                <a:latin typeface="DejaVu Sans"/>
              </a:rPr>
              <a:t>57.8% balanced recall &amp; 0.439 F1 on 10,885 C4 code modules.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Head 3 (SAAM Class): </a:t>
            </a:r>
            <a:r>
              <a:rPr sz="1500">
                <a:solidFill>
                  <a:srgbClr val="475569"/>
                </a:solidFill>
                <a:latin typeface="DejaVu Sans"/>
              </a:rPr>
              <a:t>100% accuracy classifying 116 Direct vs Indirect scenarios.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Heads 4 &amp; 5 (RAG+LM): </a:t>
            </a:r>
            <a:r>
              <a:rPr sz="1500">
                <a:solidFill>
                  <a:srgbClr val="475569"/>
                </a:solidFill>
                <a:latin typeface="DejaVu Sans"/>
              </a:rPr>
              <a:t>39-study SVD RAG + 100% Causal LM next-token generation.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120640" y="2011680"/>
          <a:ext cx="630936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ICESIC 2026, ICSSAS 2026 &amp; models/training_metrics_report.json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DejaVu Sans"/>
              </a:rPr>
              <a:t>4. CORPUS &amp; C4-SEI MAPPING MATRIX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39 Reference Case Studies Align C4 Levels 1-4 With ATAM &amp; SAAM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3017520"/>
                <a:gridCol w="347472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C4 Model Level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SEI Framework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Dataset / Studies Corpus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DejaVu Sans"/>
                        </a:rPr>
                        <a:t>Key Automated Output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Level 1: Context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ATAM &amp; SAAM Step 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18 ATAM Studies + Customer Agent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Business drivers, RPS/RTO SLAs &amp; PCI-DSS scope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Level 2: Container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ATAM Steps 4-7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2,000 Microservices + SEI RTSA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Tarjan SPOFs, sync chains &amp; Kafka/Replica C4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Level 3: Component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SAAM Modifiability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21 SAAM Studies (116 Scenarios)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Direct/Indirect effort &amp; Hotspot INT-01 clustering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DejaVu Sans"/>
                        </a:rPr>
                        <a:t>Level 4: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Static Defect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10,885 NASA JM1 Code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DejaVu Sans"/>
                        </a:rPr>
                        <a:t>McCabe v(g) &amp; Halstead pre-merge defect probability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data/archeval_atam_saam_corpus.json (18 ATAM + 21 SAAM + 123 Reasoning Traces)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DejaVu Sans"/>
              </a:rPr>
              <a:t>5. MULTI-AGENT DEBATE &amp; BENCHMARK GATE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Four Blackboard Agents Enforce Review &amp; 100% SEI RTSA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212848"/>
            <a:ext cx="2889504" cy="34381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DejaVu Sans"/>
              </a:rPr>
              <a:t>Customer &amp; Manager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4 Probes: </a:t>
            </a:r>
            <a:r>
              <a:rPr sz="1500">
                <a:solidFill>
                  <a:srgbClr val="475569"/>
                </a:solidFill>
                <a:latin typeface="DejaVu Sans"/>
              </a:rPr>
              <a:t>Resolves silent arrows &amp; 2,500 RPS SLAs.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Utility Tree: </a:t>
            </a:r>
            <a:r>
              <a:rPr sz="1500">
                <a:solidFill>
                  <a:srgbClr val="475569"/>
                </a:solidFill>
                <a:latin typeface="DejaVu Sans"/>
              </a:rPr>
              <a:t>Builds 6-part SEI quality scenarios.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Zero-Downtime: </a:t>
            </a:r>
            <a:r>
              <a:rPr sz="1500">
                <a:solidFill>
                  <a:srgbClr val="475569"/>
                </a:solidFill>
                <a:latin typeface="DejaVu Sans"/>
              </a:rPr>
              <a:t>Manager proposes initial 0ms target.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2889504" cy="34381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DejaVu Sans"/>
              </a:rPr>
              <a:t>Architect Veto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Technical Veto: </a:t>
            </a:r>
            <a:r>
              <a:rPr sz="1500">
                <a:solidFill>
                  <a:srgbClr val="475569"/>
                </a:solidFill>
                <a:latin typeface="DejaVu Sans"/>
              </a:rPr>
              <a:t>Rejects 0ms on single-instance DB SPOF.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SEI Tactics: </a:t>
            </a:r>
            <a:r>
              <a:rPr sz="1500">
                <a:solidFill>
                  <a:srgbClr val="475569"/>
                </a:solidFill>
                <a:latin typeface="DejaVu Sans"/>
              </a:rPr>
              <a:t>Applies Ch. 21 Kafka &amp; Replica tactics.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Revised SLA: </a:t>
            </a:r>
            <a:r>
              <a:rPr sz="1500">
                <a:solidFill>
                  <a:srgbClr val="475569"/>
                </a:solidFill>
                <a:latin typeface="DejaVu Sans"/>
              </a:rPr>
              <a:t>Locks achievable RTO &lt; 4s target.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2212848"/>
            <a:ext cx="2889504" cy="3438144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D4ED8"/>
                </a:solidFill>
                <a:latin typeface="DejaVu Sans"/>
              </a:rPr>
              <a:t>SEI RTSA Gate (100%)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Risks R9 &amp; R8: </a:t>
            </a:r>
            <a:r>
              <a:rPr sz="1500">
                <a:solidFill>
                  <a:srgbClr val="475569"/>
                </a:solidFill>
                <a:latin typeface="DejaVu Sans"/>
              </a:rPr>
              <a:t>Flags ADC bottleneck &amp; CPU common mode.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Tradeoff T3: </a:t>
            </a:r>
            <a:r>
              <a:rPr sz="1500">
                <a:solidFill>
                  <a:srgbClr val="475569"/>
                </a:solidFill>
                <a:latin typeface="DejaVu Sans"/>
              </a:rPr>
              <a:t>Quantifies 1s Heartbeat vs CPU load.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Non-Risk N12: </a:t>
            </a:r>
            <a:r>
              <a:rPr sz="1500">
                <a:solidFill>
                  <a:srgbClr val="475569"/>
                </a:solidFill>
                <a:latin typeface="DejaVu Sans"/>
              </a:rPr>
              <a:t>Verifies Watchdog timer reliability.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SEI RTSA Benchmark Verification Gate (REQ-M09 — 100% Compliance)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DejaVu Sans"/>
              </a:rPr>
              <a:t>6. WHAT-IF FLIGHT SIMULATOR &amp; CBAM ECONOMICS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DejaVu Sans"/>
              </a:rPr>
              <a:t>What-If Simulator Cuts Latency 60ms and Delivers 30.88x ROI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011680"/>
          <a:ext cx="6217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2011680"/>
            <a:ext cx="4114800" cy="4206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Latency -60ms: </a:t>
            </a:r>
            <a:r>
              <a:rPr sz="1500">
                <a:solidFill>
                  <a:srgbClr val="475569"/>
                </a:solidFill>
                <a:latin typeface="DejaVu Sans"/>
              </a:rPr>
              <a:t>Drops from 246ms to 186ms via async Kafka event bus.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Availability +0.33%: </a:t>
            </a:r>
            <a:r>
              <a:rPr sz="1500">
                <a:solidFill>
                  <a:srgbClr val="475569"/>
                </a:solidFill>
                <a:latin typeface="DejaVu Sans"/>
              </a:rPr>
              <a:t>Rises from 99.45% to 99.78% (21 outage hrs saved/yr).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CBAM ROI 30.88x: </a:t>
            </a:r>
            <a:r>
              <a:rPr sz="1500">
                <a:solidFill>
                  <a:srgbClr val="475569"/>
                </a:solidFill>
                <a:latin typeface="DejaVu Sans"/>
              </a:rPr>
              <a:t>$262,500 annual risk mitigated vs $8,500 engineering cost.</a:t>
            </a:r>
          </a:p>
          <a:p>
            <a:pPr algn="l" marL="219456" indent="-219456">
              <a:spcAft>
                <a:spcPts val="1000"/>
              </a:spcAft>
              <a:buFont typeface="DejaVu Sans"/>
              <a:buChar char="•"/>
            </a:pPr>
            <a:r>
              <a:rPr sz="1700" b="1">
                <a:solidFill>
                  <a:srgbClr val="0F172A"/>
                </a:solidFill>
                <a:latin typeface="DejaVu Sans"/>
              </a:rPr>
              <a:t>3-Channel Execution: </a:t>
            </a:r>
            <a:r>
              <a:rPr sz="1500">
                <a:solidFill>
                  <a:srgbClr val="475569"/>
                </a:solidFill>
                <a:latin typeface="DejaVu Sans"/>
              </a:rPr>
              <a:t>Run in Google Colab (5 steps), Web Studio, or Python CLI.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DejaVu Sans"/>
              </a:rPr>
              <a:t>Source: ATRAM_ArchEval_Blackboard_Report.json (What-If Simulator &amp; Auto-MADR ADRs)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1">
                <a:solidFill>
                  <a:srgbClr val="F8FAFC"/>
                </a:solidFill>
                <a:latin typeface="DejaVu Sans"/>
              </a:rPr>
              <a:t>Deterministic Graph Math Meets Deep Neural Intelligence.</a:t>
            </a:r>
          </a:p>
          <a:p>
            <a:pPr algn="l"/>
            <a:r>
              <a:rPr sz="1800">
                <a:solidFill>
                  <a:srgbClr val="93C5FD"/>
                </a:solidFill>
                <a:latin typeface="DejaVu Sans"/>
              </a:rPr>
              <a:t>ATRAM-ArchEval v3.0 — Ready on Google Drive, Google Colab &amp; Interactive Copilot Studio.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>
                <a:solidFill>
                  <a:srgbClr val="94A3B8"/>
                </a:solidFill>
                <a:latin typeface="DejaVu Sans"/>
              </a:rPr>
              <a:t>Thank You | ATRAM-ArchEval Deep LLM Engineering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